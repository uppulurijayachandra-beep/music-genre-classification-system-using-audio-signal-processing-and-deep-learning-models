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Bitter" panose="020B0604020202020204" charset="0"/>
      <p:regular r:id="rId13"/>
    </p:embeddedFont>
    <p:embeddedFont>
      <p:font typeface="Bitter Bold" panose="020B0604020202020204" charset="0"/>
      <p:regular r:id="rId14"/>
    </p:embeddedFont>
    <p:embeddedFont>
      <p:font typeface="Bitter SemiBold" panose="020B0604020202020204" charset="0"/>
      <p:regular r:id="rId15"/>
    </p:embeddedFont>
    <p:embeddedFont>
      <p:font typeface="Jost" panose="020B0604020202020204" charset="0"/>
      <p:regular r:id="rId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3" d="100"/>
          <a:sy n="83" d="100"/>
        </p:scale>
        <p:origin x="65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433997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an end-to-end engineering solution that leverages digital signal processing and deep convolutional neural networks to classify raw musical audio into predefined genres.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core challenge: manual tagging cannot keep pace with exponential streaming growth. Audio signal processing paired with deep learning provides an automated, scalable pipeline.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Compare the conventional approaches against our proposed deep learning solution. Highlight how metadata-based and manual approaches fail to exploit the rich acoustic texture of the audio itself.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Upload audio; preprocess and normalize the signal; extract MFCC, Mel spectrogram, and complementary features; classify with a CNN; return genre, confidence, and analytics.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Summarize the engineering objectives: we bridge raw digital signal manipulation with modern neural architectures to create an interpretable, production-ready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Clarify the relationship between training and inference: the offline pipeline trains the CNN on audio features, producing a frozen model artifact that is loaded by the real-time inference pipeline.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Describe each phase of preprocessing: load the audio file, convert format and normalize sampling rate, reduce noise and convert to mono, segment the signal into analysis windows, and normalize amplitude before feature extraction.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complementary feature set: MFCCs and Mel spectrograms provide timbral shape, while chroma, tempo, ZCR, and RMS energy quantify harmonic and rhythmic structure.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Conclude with the spectrogram transformation: casting sound as a 2D image allows our convolutional network to treat genre classification as visual pattern recognition.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1710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1710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3">
    <p:bg>
      <p:bgPr>
        <a:solidFill>
          <a:srgbClr val="1710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4">
    <p:bg>
      <p:bgPr>
        <a:solidFill>
          <a:srgbClr val="1710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5">
    <p:bg>
      <p:bgPr>
        <a:solidFill>
          <a:srgbClr val="1710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6">
    <p:bg>
      <p:bgPr>
        <a:solidFill>
          <a:srgbClr val="1710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7">
    <p:bg>
      <p:bgPr>
        <a:solidFill>
          <a:srgbClr val="1710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8">
    <p:bg>
      <p:bgPr>
        <a:solidFill>
          <a:srgbClr val="1710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09585" y="2219722"/>
            <a:ext cx="7360756" cy="1168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4600" dirty="0">
                <a:solidFill>
                  <a:srgbClr val="F2EDFB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MUSIC GENRE CLASSIFICATION SYSTEM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609585" y="3565922"/>
            <a:ext cx="7360756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B79CF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Using audio signal processing and deep learning models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427430" y="2219722"/>
            <a:ext cx="3154680" cy="2107406"/>
          </a:xfrm>
          <a:prstGeom prst="rect">
            <a:avLst/>
          </a:prstGeom>
          <a:solidFill>
            <a:srgbClr val="17102B"/>
          </a:solidFill>
          <a:ln w="6350">
            <a:solidFill>
              <a:srgbClr val="4A367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36975" y="2429272"/>
            <a:ext cx="2945136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A273F2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PROJECT DETAILS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636975" y="2720677"/>
            <a:ext cx="2735591" cy="1396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Bitter Bold" pitchFamily="34" charset="0"/>
                <a:ea typeface="Bitter Bold" pitchFamily="34" charset="-122"/>
                <a:cs typeface="Bitter Bold" pitchFamily="34" charset="-120"/>
              </a:rPr>
              <a:t>Student:</a:t>
            </a:r>
            <a:r>
              <a:rPr lang="en-US" sz="110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[Placeholder]</a:t>
            </a:r>
            <a:endParaRPr lang="en-US" sz="1100" dirty="0"/>
          </a:p>
          <a:p>
            <a:pPr marL="0" indent="0" algn="l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Bitter Bold" pitchFamily="34" charset="0"/>
                <a:ea typeface="Bitter Bold" pitchFamily="34" charset="-122"/>
                <a:cs typeface="Bitter Bold" pitchFamily="34" charset="-120"/>
              </a:rPr>
              <a:t>Roll Number:</a:t>
            </a:r>
            <a:r>
              <a:rPr lang="en-US" sz="110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[Placeholder]</a:t>
            </a:r>
            <a:endParaRPr lang="en-US" sz="1100" dirty="0"/>
          </a:p>
          <a:p>
            <a:pPr marL="0" indent="0" algn="l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Bitter Bold" pitchFamily="34" charset="0"/>
                <a:ea typeface="Bitter Bold" pitchFamily="34" charset="-122"/>
                <a:cs typeface="Bitter Bold" pitchFamily="34" charset="-120"/>
              </a:rPr>
              <a:t>Guide:</a:t>
            </a:r>
            <a:r>
              <a:rPr lang="en-US" sz="110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[Placeholder]</a:t>
            </a:r>
            <a:endParaRPr lang="en-US" sz="1100" dirty="0"/>
          </a:p>
          <a:p>
            <a:pPr marL="0" indent="0" algn="l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Bitter Bold" pitchFamily="34" charset="0"/>
                <a:ea typeface="Bitter Bold" pitchFamily="34" charset="-122"/>
                <a:cs typeface="Bitter Bold" pitchFamily="34" charset="-120"/>
              </a:rPr>
              <a:t>Dept:</a:t>
            </a:r>
            <a:r>
              <a:rPr lang="en-US" sz="110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Electronics &amp; Communication (ECE)</a:t>
            </a:r>
            <a:endParaRPr lang="en-US" sz="11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Bitter Bold" pitchFamily="34" charset="0"/>
                <a:ea typeface="Bitter Bold" pitchFamily="34" charset="-122"/>
                <a:cs typeface="Bitter Bold" pitchFamily="34" charset="-120"/>
              </a:rPr>
              <a:t>College:</a:t>
            </a:r>
            <a:r>
              <a:rPr lang="en-US" sz="110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[Placeholder]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09585" y="4574778"/>
            <a:ext cx="10972526" cy="19050"/>
          </a:xfrm>
          <a:prstGeom prst="roundRect">
            <a:avLst>
              <a:gd name="adj" fmla="val 49999"/>
            </a:avLst>
          </a:prstGeom>
          <a:solidFill>
            <a:srgbClr val="4A3670"/>
          </a:solidFill>
          <a:ln/>
        </p:spPr>
      </p:sp>
      <p:sp>
        <p:nvSpPr>
          <p:cNvPr id="9" name="Text 7"/>
          <p:cNvSpPr/>
          <p:nvPr/>
        </p:nvSpPr>
        <p:spPr>
          <a:xfrm>
            <a:off x="609585" y="4797028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Automated feature extraction, time-frequency representation, and CNN acoustic classification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320304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B79CF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01 — MOTIVATION &amp; SCALE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1579959"/>
            <a:ext cx="10972526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400" dirty="0">
                <a:solidFill>
                  <a:srgbClr val="F2EDFB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MILLIONS OF TRACKS NEED A SMARTER WAY TO ORGANIZE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09585" y="2621359"/>
            <a:ext cx="1158211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Digital music catalogs and streaming archives expand faster than human teams can catalog them.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09585" y="3022600"/>
            <a:ext cx="2514537" cy="2149277"/>
          </a:xfrm>
          <a:prstGeom prst="rect">
            <a:avLst/>
          </a:prstGeom>
          <a:solidFill>
            <a:srgbClr val="17102B"/>
          </a:solidFill>
          <a:ln w="6350">
            <a:solidFill>
              <a:srgbClr val="4A367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3730" y="3206750"/>
            <a:ext cx="797004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Bitter SemiBold" pitchFamily="34" charset="0"/>
                <a:ea typeface="Bitter SemiBold" pitchFamily="34" charset="-122"/>
                <a:cs typeface="Bitter SemiBold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5935" y="3455690"/>
            <a:ext cx="2501837" cy="19050"/>
          </a:xfrm>
          <a:prstGeom prst="rect">
            <a:avLst/>
          </a:prstGeom>
          <a:solidFill>
            <a:srgbClr val="17102B"/>
          </a:solidFill>
          <a:ln/>
        </p:spPr>
      </p:sp>
      <p:sp>
        <p:nvSpPr>
          <p:cNvPr id="8" name="Text 6"/>
          <p:cNvSpPr/>
          <p:nvPr/>
        </p:nvSpPr>
        <p:spPr>
          <a:xfrm>
            <a:off x="793730" y="3581400"/>
            <a:ext cx="2330392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B79CF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01 · INGESTION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93730" y="3841055"/>
            <a:ext cx="2146246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Audio Song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93730" y="4205486"/>
            <a:ext cx="2146246" cy="782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Streaming libraries receive millions of uncurated and independently produced digital tracks daily.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28914" y="3022600"/>
            <a:ext cx="2514537" cy="2149277"/>
          </a:xfrm>
          <a:prstGeom prst="rect">
            <a:avLst/>
          </a:prstGeom>
          <a:solidFill>
            <a:srgbClr val="17102B"/>
          </a:solidFill>
          <a:ln w="6350">
            <a:solidFill>
              <a:srgbClr val="4A367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13060" y="3206750"/>
            <a:ext cx="821908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Bitter SemiBold" pitchFamily="34" charset="0"/>
                <a:ea typeface="Bitter SemiBold" pitchFamily="34" charset="-122"/>
                <a:cs typeface="Bitter SemiBold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435264" y="3455690"/>
            <a:ext cx="2501837" cy="19050"/>
          </a:xfrm>
          <a:prstGeom prst="rect">
            <a:avLst/>
          </a:prstGeom>
          <a:solidFill>
            <a:srgbClr val="17102B"/>
          </a:solidFill>
          <a:ln/>
        </p:spPr>
      </p:sp>
      <p:sp>
        <p:nvSpPr>
          <p:cNvPr id="14" name="Text 12"/>
          <p:cNvSpPr/>
          <p:nvPr/>
        </p:nvSpPr>
        <p:spPr>
          <a:xfrm>
            <a:off x="3613060" y="3581400"/>
            <a:ext cx="2330392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B79CF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02 · COMPUTATION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613060" y="3841055"/>
            <a:ext cx="2146246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Signal Processing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3613060" y="4205486"/>
            <a:ext cx="2146246" cy="782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Converts continuous acoustic waveforms into structured, multi-dimensional time–frequency maps.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48244" y="3022600"/>
            <a:ext cx="2514537" cy="2149277"/>
          </a:xfrm>
          <a:prstGeom prst="rect">
            <a:avLst/>
          </a:prstGeom>
          <a:solidFill>
            <a:srgbClr val="17102B"/>
          </a:solidFill>
          <a:ln w="6350">
            <a:solidFill>
              <a:srgbClr val="4A367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32389" y="3206750"/>
            <a:ext cx="824983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Bitter SemiBold" pitchFamily="34" charset="0"/>
                <a:ea typeface="Bitter SemiBold" pitchFamily="34" charset="-122"/>
                <a:cs typeface="Bitter SemiBold" pitchFamily="34" charset="-120"/>
              </a:rPr>
              <a:t>03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254594" y="3455690"/>
            <a:ext cx="2501837" cy="19050"/>
          </a:xfrm>
          <a:prstGeom prst="rect">
            <a:avLst/>
          </a:prstGeom>
          <a:solidFill>
            <a:srgbClr val="17102B"/>
          </a:solidFill>
          <a:ln/>
        </p:spPr>
      </p:sp>
      <p:sp>
        <p:nvSpPr>
          <p:cNvPr id="20" name="Text 18"/>
          <p:cNvSpPr/>
          <p:nvPr/>
        </p:nvSpPr>
        <p:spPr>
          <a:xfrm>
            <a:off x="6432389" y="3581400"/>
            <a:ext cx="2330392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B79CF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03 · INFERENCE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432389" y="3841055"/>
            <a:ext cx="2146246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Deep Learning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432389" y="4205486"/>
            <a:ext cx="2146246" cy="782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Learns complex hierarchical frequency and rhythm patterns directly without hand-crafted rules.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067573" y="3022600"/>
            <a:ext cx="2514537" cy="2149277"/>
          </a:xfrm>
          <a:prstGeom prst="rect">
            <a:avLst/>
          </a:prstGeom>
          <a:solidFill>
            <a:srgbClr val="4A3670"/>
          </a:solidFill>
          <a:ln w="6350">
            <a:solidFill>
              <a:srgbClr val="4A367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251719" y="3206750"/>
            <a:ext cx="829746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Bitter SemiBold" pitchFamily="34" charset="0"/>
                <a:ea typeface="Bitter SemiBold" pitchFamily="34" charset="-122"/>
                <a:cs typeface="Bitter SemiBold" pitchFamily="34" charset="-120"/>
              </a:rPr>
              <a:t>04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9073923" y="3455690"/>
            <a:ext cx="2501837" cy="19050"/>
          </a:xfrm>
          <a:prstGeom prst="rect">
            <a:avLst/>
          </a:prstGeom>
          <a:solidFill>
            <a:srgbClr val="17102B"/>
          </a:solidFill>
          <a:ln/>
        </p:spPr>
      </p:sp>
      <p:sp>
        <p:nvSpPr>
          <p:cNvPr id="26" name="Text 24"/>
          <p:cNvSpPr/>
          <p:nvPr/>
        </p:nvSpPr>
        <p:spPr>
          <a:xfrm>
            <a:off x="9251719" y="3581400"/>
            <a:ext cx="2330392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04 · OUTPUT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9251719" y="3841055"/>
            <a:ext cx="2146246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Genre Prediction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9251719" y="4205486"/>
            <a:ext cx="2146246" cy="782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Automated genre assignment with associated classification confidence for downstream discovery.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09585" y="5324277"/>
            <a:ext cx="11582110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dirty="0">
                <a:solidFill>
                  <a:srgbClr val="B79CF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Core Bottleneck:</a:t>
            </a:r>
            <a:r>
              <a:rPr lang="en-US" sz="12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Manual genre tagging is slow, inconsistent, and cannot scale to modern catalog ingestion rates.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09585" y="6466086"/>
            <a:ext cx="2592918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Music Genre Classification System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1514346" y="6466086"/>
            <a:ext cx="677349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470288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27477" y="971848"/>
            <a:ext cx="7264218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B79CF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02 — PROBLEM DEFINITION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4927477" y="1231503"/>
            <a:ext cx="6807030" cy="13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200" dirty="0">
                <a:solidFill>
                  <a:srgbClr val="F2EDFB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MANUAL CLASSIFICATION CANNOT KEEP PACE WITH LARGE MUSIC LIBRARIES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4927477" y="2794695"/>
            <a:ext cx="6807030" cy="19050"/>
          </a:xfrm>
          <a:prstGeom prst="roundRect">
            <a:avLst>
              <a:gd name="adj" fmla="val 49999"/>
            </a:avLst>
          </a:prstGeom>
          <a:solidFill>
            <a:srgbClr val="4A3670"/>
          </a:solidFill>
          <a:ln/>
        </p:spPr>
      </p:sp>
      <p:sp>
        <p:nvSpPr>
          <p:cNvPr id="6" name="Shape 3"/>
          <p:cNvSpPr/>
          <p:nvPr/>
        </p:nvSpPr>
        <p:spPr>
          <a:xfrm>
            <a:off x="4927477" y="3016945"/>
            <a:ext cx="6350" cy="700881"/>
          </a:xfrm>
          <a:prstGeom prst="rect">
            <a:avLst/>
          </a:prstGeom>
          <a:solidFill>
            <a:srgbClr val="4A3670"/>
          </a:solidFill>
          <a:ln/>
        </p:spPr>
      </p:sp>
      <p:sp>
        <p:nvSpPr>
          <p:cNvPr id="7" name="Text 4"/>
          <p:cNvSpPr/>
          <p:nvPr/>
        </p:nvSpPr>
        <p:spPr>
          <a:xfrm>
            <a:off x="5111622" y="3118545"/>
            <a:ext cx="6445089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Genre depends on rhythm, melody, tempo, pitch, frequency, and instrumentation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927477" y="3870226"/>
            <a:ext cx="6350" cy="452041"/>
          </a:xfrm>
          <a:prstGeom prst="rect">
            <a:avLst/>
          </a:prstGeom>
          <a:solidFill>
            <a:srgbClr val="4A3670"/>
          </a:solidFill>
          <a:ln/>
        </p:spPr>
      </p:sp>
      <p:sp>
        <p:nvSpPr>
          <p:cNvPr id="9" name="Text 6"/>
          <p:cNvSpPr/>
          <p:nvPr/>
        </p:nvSpPr>
        <p:spPr>
          <a:xfrm>
            <a:off x="5111622" y="3971826"/>
            <a:ext cx="6622884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Human labeling is time-consuming and vulnerable to inconsistency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927477" y="4474666"/>
            <a:ext cx="6350" cy="452041"/>
          </a:xfrm>
          <a:prstGeom prst="rect">
            <a:avLst/>
          </a:prstGeom>
          <a:solidFill>
            <a:srgbClr val="4A3670"/>
          </a:solidFill>
          <a:ln/>
        </p:spPr>
      </p:sp>
      <p:sp>
        <p:nvSpPr>
          <p:cNvPr id="11" name="Text 8"/>
          <p:cNvSpPr/>
          <p:nvPr/>
        </p:nvSpPr>
        <p:spPr>
          <a:xfrm>
            <a:off x="5111622" y="4576266"/>
            <a:ext cx="6622884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Metadata and tags do not fully capture the audio itself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927477" y="5079107"/>
            <a:ext cx="6807030" cy="806946"/>
          </a:xfrm>
          <a:prstGeom prst="rect">
            <a:avLst/>
          </a:prstGeom>
          <a:solidFill>
            <a:srgbClr val="17102B"/>
          </a:solidFill>
          <a:ln w="6350">
            <a:solidFill>
              <a:srgbClr val="4A367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111622" y="5212457"/>
            <a:ext cx="6622884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B79CF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SYSTEM REQUIREMENT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5111622" y="5503863"/>
            <a:ext cx="6622884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The system must return a genre, confidence score, and performance analytics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5104181" y="6466086"/>
            <a:ext cx="2592918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Music Genre Classification System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11511171" y="6466086"/>
            <a:ext cx="680524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644352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B79CF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03 — CURRENT STATE AUDIT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1904008"/>
            <a:ext cx="10972526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400" dirty="0">
                <a:solidFill>
                  <a:srgbClr val="F2EDFB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EXISTING APPROACHES RELY TOO HEAVILY ON PEOPLE AND METADATA</a:t>
            </a:r>
            <a:endParaRPr lang="en-US" sz="3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2894608"/>
          <a:ext cx="10972526" cy="914400"/>
        </p:xfrm>
        <a:graphic>
          <a:graphicData uri="http://schemas.openxmlformats.org/drawingml/2006/table">
            <a:tbl>
              <a:tblPr/>
              <a:tblGrid>
                <a:gridCol w="26333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27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527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335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726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2EDFB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Methodology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2EDFB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Primary Mechanism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2EDFB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Critical Bottleneck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2EDFB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System Limitation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60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2EDFB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Manual Tagging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2EDFB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Human editors and crowd workers listen and tag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2EDFB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Labor-intensive, slow, subjective listener bias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2EDFB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Cannot scale to streaming catalogs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60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2EDFB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Metadata Matching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2EDFB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Artist, title, and studio ID3 tags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2EDFB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Frequently missing, falsified, or inconsistent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2EDFB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Ignores the actual acoustic content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60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2EDFB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Classical ML (SVM/kNN)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2EDFB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Heuristic hand-crafted acoustic feature vectors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2EDFB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Struggles with non-linear time–frequency dependencies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2EDFB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High feature engineering overhead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974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Proposed Deep Audio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36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End-to-end spectrogram learning via CNN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36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Automated feature extraction directly from signal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36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High scalability, zero manual tagging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36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 2"/>
          <p:cNvSpPr/>
          <p:nvPr/>
        </p:nvSpPr>
        <p:spPr>
          <a:xfrm>
            <a:off x="609585" y="6035080"/>
            <a:ext cx="11582110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dirty="0">
                <a:solidFill>
                  <a:srgbClr val="B79CF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Observed Failure Mode:</a:t>
            </a:r>
            <a:r>
              <a:rPr lang="en-US" sz="12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Excessive human overhead, inconsistent ground truth, and fragile text metadata necessitate direct signal-level classification.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09585" y="6466086"/>
            <a:ext cx="2592918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Music Genre Classification System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509385" y="6466086"/>
            <a:ext cx="682310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2209403"/>
            <a:ext cx="10972526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400" dirty="0">
                <a:solidFill>
                  <a:srgbClr val="F2EDFB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The proposed system learns from the audio signal itself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09585" y="2819003"/>
            <a:ext cx="10972526" cy="14220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17000"/>
              </a:lnSpc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Upload audio</a:t>
            </a:r>
            <a:endParaRPr lang="en-US" sz="1400" dirty="0"/>
          </a:p>
          <a:p>
            <a:pPr marL="284480" indent="-284480" algn="l">
              <a:lnSpc>
                <a:spcPct val="117000"/>
              </a:lnSpc>
              <a:buSzPct val="100000"/>
              <a:buFont typeface="+mj-lt"/>
              <a:buAutoNum type="arabicPeriod" startAt="2"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Preprocess and normalize the signal</a:t>
            </a:r>
            <a:endParaRPr lang="en-US" sz="1400" dirty="0"/>
          </a:p>
          <a:p>
            <a:pPr marL="284480" indent="-284480" algn="l">
              <a:lnSpc>
                <a:spcPct val="117000"/>
              </a:lnSpc>
              <a:buSzPct val="100000"/>
              <a:buFont typeface="+mj-lt"/>
              <a:buAutoNum type="arabicPeriod" startAt="3"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Extract MFCC, Mel spectrogram, and complementary features</a:t>
            </a:r>
            <a:endParaRPr lang="en-US" sz="1400" dirty="0"/>
          </a:p>
          <a:p>
            <a:pPr marL="284480" indent="-284480" algn="l">
              <a:lnSpc>
                <a:spcPct val="117000"/>
              </a:lnSpc>
              <a:buSzPct val="100000"/>
              <a:buFont typeface="+mj-lt"/>
              <a:buAutoNum type="arabicPeriod" startAt="4"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Classify with a CNN</a:t>
            </a:r>
            <a:endParaRPr lang="en-US" sz="1400" dirty="0"/>
          </a:p>
          <a:p>
            <a:pPr marL="284480" indent="-284480" algn="l">
              <a:lnSpc>
                <a:spcPct val="117000"/>
              </a:lnSpc>
              <a:buSzPct val="100000"/>
              <a:buFont typeface="+mj-lt"/>
              <a:buAutoNum type="arabicPeriod" startAt="5"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Return genre, confidence, and analytics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04792" y="4399756"/>
            <a:ext cx="1158211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Upload audio → Preprocessing → Features → Spectrogram/MFCC → CNN → Prediction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09585" y="6466086"/>
            <a:ext cx="2592918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Music Genre Classification System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515635" y="6466086"/>
            <a:ext cx="676060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095276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B79CF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05 — PROJECT OBJECTIVES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1354931"/>
            <a:ext cx="10972526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400" dirty="0">
                <a:solidFill>
                  <a:srgbClr val="F2EDFB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CONNECTING SIGNAL PROCESSING TO AN EXPLAINABLE RESULT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09585" y="2345531"/>
            <a:ext cx="3581310" cy="1632347"/>
          </a:xfrm>
          <a:prstGeom prst="rect">
            <a:avLst/>
          </a:prstGeom>
          <a:solidFill>
            <a:srgbClr val="17102B"/>
          </a:solidFill>
          <a:ln w="6350">
            <a:solidFill>
              <a:srgbClr val="4A367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3730" y="2529681"/>
            <a:ext cx="3397165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B79CF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OBJECTIVE 01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93730" y="2789337"/>
            <a:ext cx="3213020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Automated Classification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93730" y="3153767"/>
            <a:ext cx="3213020" cy="426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Classify musical tracks into predefined genre categories reliably without manual listening.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43291" y="2345531"/>
            <a:ext cx="3505112" cy="1632347"/>
          </a:xfrm>
          <a:prstGeom prst="rect">
            <a:avLst/>
          </a:prstGeom>
          <a:solidFill>
            <a:srgbClr val="17102B"/>
          </a:solidFill>
          <a:ln w="6350">
            <a:solidFill>
              <a:srgbClr val="4A367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27437" y="2529681"/>
            <a:ext cx="3320967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B79CF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OBJECTIVE 02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27437" y="2789337"/>
            <a:ext cx="3136822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Multi-Domain Extraction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527437" y="3153767"/>
            <a:ext cx="3136822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Extract rhythm, frequency distribution, pitch classes, tempo (BPM), and spectral energy metrics.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00800" y="2345531"/>
            <a:ext cx="3581310" cy="1632347"/>
          </a:xfrm>
          <a:prstGeom prst="rect">
            <a:avLst/>
          </a:prstGeom>
          <a:solidFill>
            <a:srgbClr val="17102B"/>
          </a:solidFill>
          <a:ln w="6350">
            <a:solidFill>
              <a:srgbClr val="4A367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84945" y="2529681"/>
            <a:ext cx="3397165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B79CF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OBJECTIVE 03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184945" y="2789337"/>
            <a:ext cx="3213020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Visual Representation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184945" y="3153767"/>
            <a:ext cx="3213020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Generate high-fidelity Mel spectrograms and Mel-frequency cepstral coefficient (MFCC) matrices.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9585" y="4130278"/>
            <a:ext cx="3581310" cy="1632347"/>
          </a:xfrm>
          <a:prstGeom prst="rect">
            <a:avLst/>
          </a:prstGeom>
          <a:solidFill>
            <a:srgbClr val="17102B"/>
          </a:solidFill>
          <a:ln w="6350">
            <a:solidFill>
              <a:srgbClr val="4A367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3730" y="4314428"/>
            <a:ext cx="3397165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B79CF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OBJECTIVE 04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93730" y="4574084"/>
            <a:ext cx="3213020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CNN Model Training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793730" y="4938514"/>
            <a:ext cx="3213020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Train an optimized 2D convolutional neural network capable of spatial pattern recognition in audio.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343291" y="4130278"/>
            <a:ext cx="3505112" cy="1632347"/>
          </a:xfrm>
          <a:prstGeom prst="rect">
            <a:avLst/>
          </a:prstGeom>
          <a:solidFill>
            <a:srgbClr val="17102B"/>
          </a:solidFill>
          <a:ln w="6350">
            <a:solidFill>
              <a:srgbClr val="4A367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27437" y="4314428"/>
            <a:ext cx="3320967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B79CF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OBJECTIVE 05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527437" y="4574084"/>
            <a:ext cx="3136822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Confidence &amp; Metrics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4527437" y="4938514"/>
            <a:ext cx="3136822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Deliver transparent predicted genre labels alongside percentage confidence scores and loss curves.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000800" y="4130278"/>
            <a:ext cx="3581310" cy="1632347"/>
          </a:xfrm>
          <a:prstGeom prst="rect">
            <a:avLst/>
          </a:prstGeom>
          <a:solidFill>
            <a:srgbClr val="4A3670"/>
          </a:solidFill>
          <a:ln w="6350">
            <a:solidFill>
              <a:srgbClr val="4A367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84945" y="4314428"/>
            <a:ext cx="3397165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OBJECTIVE 06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184945" y="4574084"/>
            <a:ext cx="3213020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Downstream Utility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8184945" y="4938514"/>
            <a:ext cx="3213020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Build an enterprise foundation for scalable music recommendation systems and digital libraries.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09585" y="6466086"/>
            <a:ext cx="2592918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Music Genre Classification System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508988" y="6466086"/>
            <a:ext cx="682707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683345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B79CF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06 — SYSTEM ARCHITECTURE &amp; DATA PIPELINE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1943001"/>
            <a:ext cx="10972526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400" dirty="0">
                <a:solidFill>
                  <a:srgbClr val="F2EDFB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ONE PIPELINE CONNECTS THE DATASET TO THE FINAL PREDICTION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09585" y="2984401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B79CF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OFFLINE TRAINING PIPELINE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09585" y="3329781"/>
            <a:ext cx="2194465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Dataset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804050" y="3329781"/>
            <a:ext cx="2194465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Training data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998516" y="3329781"/>
            <a:ext cx="2194565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Feature extraction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193080" y="3329781"/>
            <a:ext cx="2194465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CNN training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387546" y="3329781"/>
            <a:ext cx="2194565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Trained CNN model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04792" y="3737372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105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Trained CNN model → Genre classification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09585" y="4082752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B79CF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REAL-TIME INFERENCE PIPELINE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09585" y="4428133"/>
            <a:ext cx="1828754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Audio input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438339" y="4428133"/>
            <a:ext cx="1828754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Preprocessing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495688" y="4428133"/>
            <a:ext cx="1371566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MFCC / Mel spectrogram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24442" y="4428133"/>
            <a:ext cx="1371566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Genre classification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153196" y="4428133"/>
            <a:ext cx="1371566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Confidence score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981950" y="4428133"/>
            <a:ext cx="1600160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Results and performance analytics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797700" y="3329781"/>
            <a:ext cx="12700" cy="248841"/>
          </a:xfrm>
          <a:prstGeom prst="rect">
            <a:avLst/>
          </a:prstGeom>
          <a:solidFill>
            <a:srgbClr val="4A3670"/>
          </a:solidFill>
          <a:ln/>
        </p:spPr>
      </p:sp>
      <p:sp>
        <p:nvSpPr>
          <p:cNvPr id="19" name="Shape 17"/>
          <p:cNvSpPr/>
          <p:nvPr/>
        </p:nvSpPr>
        <p:spPr>
          <a:xfrm>
            <a:off x="4992166" y="3329781"/>
            <a:ext cx="12700" cy="248841"/>
          </a:xfrm>
          <a:prstGeom prst="rect">
            <a:avLst/>
          </a:prstGeom>
          <a:solidFill>
            <a:srgbClr val="4A3670"/>
          </a:solidFill>
          <a:ln/>
        </p:spPr>
      </p:sp>
      <p:sp>
        <p:nvSpPr>
          <p:cNvPr id="20" name="Shape 18"/>
          <p:cNvSpPr/>
          <p:nvPr/>
        </p:nvSpPr>
        <p:spPr>
          <a:xfrm>
            <a:off x="7186730" y="3329781"/>
            <a:ext cx="12700" cy="248841"/>
          </a:xfrm>
          <a:prstGeom prst="rect">
            <a:avLst/>
          </a:prstGeom>
          <a:solidFill>
            <a:srgbClr val="4A3670"/>
          </a:solidFill>
          <a:ln/>
        </p:spPr>
      </p:sp>
      <p:sp>
        <p:nvSpPr>
          <p:cNvPr id="21" name="Shape 19"/>
          <p:cNvSpPr/>
          <p:nvPr/>
        </p:nvSpPr>
        <p:spPr>
          <a:xfrm>
            <a:off x="9381196" y="3329781"/>
            <a:ext cx="12700" cy="248841"/>
          </a:xfrm>
          <a:prstGeom prst="rect">
            <a:avLst/>
          </a:prstGeom>
          <a:solidFill>
            <a:srgbClr val="4A3670"/>
          </a:solidFill>
          <a:ln/>
        </p:spPr>
      </p:sp>
      <p:sp>
        <p:nvSpPr>
          <p:cNvPr id="22" name="Shape 20"/>
          <p:cNvSpPr/>
          <p:nvPr/>
        </p:nvSpPr>
        <p:spPr>
          <a:xfrm>
            <a:off x="2431989" y="4428133"/>
            <a:ext cx="12700" cy="746522"/>
          </a:xfrm>
          <a:prstGeom prst="rect">
            <a:avLst/>
          </a:prstGeom>
          <a:solidFill>
            <a:srgbClr val="4A3670"/>
          </a:solidFill>
          <a:ln/>
        </p:spPr>
      </p:sp>
      <p:sp>
        <p:nvSpPr>
          <p:cNvPr id="23" name="Shape 21"/>
          <p:cNvSpPr/>
          <p:nvPr/>
        </p:nvSpPr>
        <p:spPr>
          <a:xfrm>
            <a:off x="4260743" y="4428133"/>
            <a:ext cx="12700" cy="746522"/>
          </a:xfrm>
          <a:prstGeom prst="rect">
            <a:avLst/>
          </a:prstGeom>
          <a:solidFill>
            <a:srgbClr val="4A3670"/>
          </a:solidFill>
          <a:ln/>
        </p:spPr>
      </p:sp>
      <p:sp>
        <p:nvSpPr>
          <p:cNvPr id="24" name="Shape 22"/>
          <p:cNvSpPr/>
          <p:nvPr/>
        </p:nvSpPr>
        <p:spPr>
          <a:xfrm>
            <a:off x="6089498" y="4428133"/>
            <a:ext cx="12700" cy="746522"/>
          </a:xfrm>
          <a:prstGeom prst="rect">
            <a:avLst/>
          </a:prstGeom>
          <a:solidFill>
            <a:srgbClr val="4A3670"/>
          </a:solidFill>
          <a:ln/>
        </p:spPr>
      </p:sp>
      <p:sp>
        <p:nvSpPr>
          <p:cNvPr id="25" name="Shape 23"/>
          <p:cNvSpPr/>
          <p:nvPr/>
        </p:nvSpPr>
        <p:spPr>
          <a:xfrm>
            <a:off x="7918252" y="4428133"/>
            <a:ext cx="12700" cy="746522"/>
          </a:xfrm>
          <a:prstGeom prst="rect">
            <a:avLst/>
          </a:prstGeom>
          <a:solidFill>
            <a:srgbClr val="4A3670"/>
          </a:solidFill>
          <a:ln/>
        </p:spPr>
      </p:sp>
      <p:sp>
        <p:nvSpPr>
          <p:cNvPr id="26" name="Shape 24"/>
          <p:cNvSpPr/>
          <p:nvPr/>
        </p:nvSpPr>
        <p:spPr>
          <a:xfrm>
            <a:off x="9747006" y="4428133"/>
            <a:ext cx="12700" cy="746522"/>
          </a:xfrm>
          <a:prstGeom prst="rect">
            <a:avLst/>
          </a:prstGeom>
          <a:solidFill>
            <a:srgbClr val="4A3670"/>
          </a:solidFill>
          <a:ln/>
        </p:spPr>
      </p:sp>
      <p:sp>
        <p:nvSpPr>
          <p:cNvPr id="27" name="Text 25"/>
          <p:cNvSpPr/>
          <p:nvPr/>
        </p:nvSpPr>
        <p:spPr>
          <a:xfrm>
            <a:off x="609585" y="6466086"/>
            <a:ext cx="2592918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Music Genre Classification System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1519604" y="6466086"/>
            <a:ext cx="672091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594247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B79CF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07 — SIGNAL CONDITIONING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1853902"/>
            <a:ext cx="10972526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400" dirty="0">
                <a:solidFill>
                  <a:srgbClr val="F2EDFB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PREPROCESSING TURNS RAW AUDIO INTO A STABLE MODEL INPUT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09585" y="2895302"/>
            <a:ext cx="2072628" cy="1685131"/>
          </a:xfrm>
          <a:prstGeom prst="rect">
            <a:avLst/>
          </a:prstGeom>
          <a:solidFill>
            <a:srgbClr val="17102B"/>
          </a:solidFill>
          <a:ln w="6350">
            <a:solidFill>
              <a:srgbClr val="4A367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331" y="3054052"/>
            <a:ext cx="797004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Bitter SemiBold" pitchFamily="34" charset="0"/>
                <a:ea typeface="Bitter SemiBold" pitchFamily="34" charset="-122"/>
                <a:cs typeface="Bitter SemiBold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15935" y="3302992"/>
            <a:ext cx="2059928" cy="19050"/>
          </a:xfrm>
          <a:prstGeom prst="rect">
            <a:avLst/>
          </a:prstGeom>
          <a:solidFill>
            <a:srgbClr val="17102B"/>
          </a:solidFill>
          <a:ln/>
        </p:spPr>
      </p:sp>
      <p:sp>
        <p:nvSpPr>
          <p:cNvPr id="7" name="Text 5"/>
          <p:cNvSpPr/>
          <p:nvPr/>
        </p:nvSpPr>
        <p:spPr>
          <a:xfrm>
            <a:off x="768331" y="3428702"/>
            <a:ext cx="1755136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Load audio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68331" y="3793133"/>
            <a:ext cx="1913882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Load the audio file.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834510" y="2895302"/>
            <a:ext cx="2072628" cy="1685131"/>
          </a:xfrm>
          <a:prstGeom prst="rect">
            <a:avLst/>
          </a:prstGeom>
          <a:solidFill>
            <a:srgbClr val="17102B"/>
          </a:solidFill>
          <a:ln w="6350">
            <a:solidFill>
              <a:srgbClr val="4A367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93256" y="3054052"/>
            <a:ext cx="821908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Bitter SemiBold" pitchFamily="34" charset="0"/>
                <a:ea typeface="Bitter SemiBold" pitchFamily="34" charset="-122"/>
                <a:cs typeface="Bitter SemiBold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840859" y="3302992"/>
            <a:ext cx="2059928" cy="19050"/>
          </a:xfrm>
          <a:prstGeom prst="rect">
            <a:avLst/>
          </a:prstGeom>
          <a:solidFill>
            <a:srgbClr val="17102B"/>
          </a:solidFill>
          <a:ln/>
        </p:spPr>
      </p:sp>
      <p:sp>
        <p:nvSpPr>
          <p:cNvPr id="12" name="Text 10"/>
          <p:cNvSpPr/>
          <p:nvPr/>
        </p:nvSpPr>
        <p:spPr>
          <a:xfrm>
            <a:off x="2993256" y="3428702"/>
            <a:ext cx="1755136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Convert format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2993256" y="3793133"/>
            <a:ext cx="1755136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Convert format and normalize sampling rate.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59434" y="2895302"/>
            <a:ext cx="2072727" cy="1685131"/>
          </a:xfrm>
          <a:prstGeom prst="rect">
            <a:avLst/>
          </a:prstGeom>
          <a:solidFill>
            <a:srgbClr val="17102B"/>
          </a:solidFill>
          <a:ln w="6350">
            <a:solidFill>
              <a:srgbClr val="4A367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18180" y="3054052"/>
            <a:ext cx="824983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Bitter SemiBold" pitchFamily="34" charset="0"/>
                <a:ea typeface="Bitter SemiBold" pitchFamily="34" charset="-122"/>
                <a:cs typeface="Bitter SemiBold" pitchFamily="34" charset="-120"/>
              </a:rPr>
              <a:t>03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065784" y="3302992"/>
            <a:ext cx="2059928" cy="19050"/>
          </a:xfrm>
          <a:prstGeom prst="rect">
            <a:avLst/>
          </a:prstGeom>
          <a:solidFill>
            <a:srgbClr val="17102B"/>
          </a:solidFill>
          <a:ln/>
        </p:spPr>
      </p:sp>
      <p:sp>
        <p:nvSpPr>
          <p:cNvPr id="17" name="Text 15"/>
          <p:cNvSpPr/>
          <p:nvPr/>
        </p:nvSpPr>
        <p:spPr>
          <a:xfrm>
            <a:off x="5218180" y="3428702"/>
            <a:ext cx="1755235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Reduce noise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5218180" y="3793133"/>
            <a:ext cx="1755235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Reduce noise and convert to mono.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284458" y="2895302"/>
            <a:ext cx="2072628" cy="1685131"/>
          </a:xfrm>
          <a:prstGeom prst="rect">
            <a:avLst/>
          </a:prstGeom>
          <a:solidFill>
            <a:srgbClr val="17102B"/>
          </a:solidFill>
          <a:ln w="6350">
            <a:solidFill>
              <a:srgbClr val="4A367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43204" y="3054052"/>
            <a:ext cx="829746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Bitter SemiBold" pitchFamily="34" charset="0"/>
                <a:ea typeface="Bitter SemiBold" pitchFamily="34" charset="-122"/>
                <a:cs typeface="Bitter SemiBold" pitchFamily="34" charset="-120"/>
              </a:rPr>
              <a:t>04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290808" y="3302992"/>
            <a:ext cx="2059928" cy="19050"/>
          </a:xfrm>
          <a:prstGeom prst="rect">
            <a:avLst/>
          </a:prstGeom>
          <a:solidFill>
            <a:srgbClr val="17102B"/>
          </a:solidFill>
          <a:ln/>
        </p:spPr>
      </p:sp>
      <p:sp>
        <p:nvSpPr>
          <p:cNvPr id="22" name="Text 20"/>
          <p:cNvSpPr/>
          <p:nvPr/>
        </p:nvSpPr>
        <p:spPr>
          <a:xfrm>
            <a:off x="7443204" y="3428702"/>
            <a:ext cx="1755136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Segment signal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443204" y="3793133"/>
            <a:ext cx="1755136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Segment the signal into analysis windows.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509383" y="2895302"/>
            <a:ext cx="2072727" cy="1685131"/>
          </a:xfrm>
          <a:prstGeom prst="rect">
            <a:avLst/>
          </a:prstGeom>
          <a:solidFill>
            <a:srgbClr val="4A3670"/>
          </a:solidFill>
          <a:ln w="6350">
            <a:solidFill>
              <a:srgbClr val="4A367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68129" y="3054052"/>
            <a:ext cx="819427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Bitter SemiBold" pitchFamily="34" charset="0"/>
                <a:ea typeface="Bitter SemiBold" pitchFamily="34" charset="-122"/>
                <a:cs typeface="Bitter SemiBold" pitchFamily="34" charset="-120"/>
              </a:rPr>
              <a:t>05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9515733" y="3302992"/>
            <a:ext cx="2059928" cy="19050"/>
          </a:xfrm>
          <a:prstGeom prst="rect">
            <a:avLst/>
          </a:prstGeom>
          <a:solidFill>
            <a:srgbClr val="17102B"/>
          </a:solidFill>
          <a:ln/>
        </p:spPr>
      </p:sp>
      <p:sp>
        <p:nvSpPr>
          <p:cNvPr id="27" name="Text 25"/>
          <p:cNvSpPr/>
          <p:nvPr/>
        </p:nvSpPr>
        <p:spPr>
          <a:xfrm>
            <a:off x="9668129" y="3428702"/>
            <a:ext cx="1755235" cy="4748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Normalize amplitude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9668129" y="4030563"/>
            <a:ext cx="1755235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Normalize amplitude before feature extraction.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09585" y="4783634"/>
            <a:ext cx="10972526" cy="480020"/>
          </a:xfrm>
          <a:prstGeom prst="rect">
            <a:avLst/>
          </a:prstGeom>
          <a:noFill/>
          <a:ln w="6350">
            <a:solidFill>
              <a:srgbClr val="4A367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19130" y="4916984"/>
            <a:ext cx="10762981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b="1" dirty="0">
                <a:solidFill>
                  <a:srgbClr val="F2EDFB"/>
                </a:solidFill>
                <a:latin typeface="Bitter Bold" pitchFamily="34" charset="0"/>
                <a:ea typeface="Bitter Bold" pitchFamily="34" charset="-122"/>
                <a:cs typeface="Bitter Bold" pitchFamily="34" charset="-120"/>
              </a:rPr>
              <a:t>Raw audio waveform → Clean, normalized waveform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09585" y="6466086"/>
            <a:ext cx="2592918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Music Genre Classification System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1507301" y="6466086"/>
            <a:ext cx="684394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994966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B79CF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08 — ACOUSTIC FEATURE EXTRACTION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1254621"/>
            <a:ext cx="10972526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400" dirty="0">
                <a:solidFill>
                  <a:srgbClr val="F2EDFB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DIFFERENT FEATURES REVEAL DIFFERENT MUSICAL CHARACTERISTICS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09585" y="2296021"/>
            <a:ext cx="11582110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3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No single metric characterizes genre; multiple complementary mathematical representations are extracted.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09585" y="2654102"/>
            <a:ext cx="2628834" cy="1528266"/>
          </a:xfrm>
          <a:prstGeom prst="rect">
            <a:avLst/>
          </a:prstGeom>
          <a:solidFill>
            <a:srgbClr val="17102B"/>
          </a:solidFill>
          <a:ln w="6350">
            <a:solidFill>
              <a:srgbClr val="4A367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331" y="2812852"/>
            <a:ext cx="2470088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B79CF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TIMBRE &amp; PERCEPTION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68331" y="3072507"/>
            <a:ext cx="2311342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MFCC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68331" y="3436938"/>
            <a:ext cx="2311342" cy="586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Represents envelope of short-term power spectrum mapped to the non-linear human auditory system.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90815" y="2654102"/>
            <a:ext cx="2628834" cy="1528266"/>
          </a:xfrm>
          <a:prstGeom prst="rect">
            <a:avLst/>
          </a:prstGeom>
          <a:solidFill>
            <a:srgbClr val="17102B"/>
          </a:solidFill>
          <a:ln w="6350">
            <a:solidFill>
              <a:srgbClr val="4A367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49561" y="2812852"/>
            <a:ext cx="2470088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B79CF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TIME–FREQUENCY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549561" y="3072507"/>
            <a:ext cx="2311342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Mel Spectrogram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549561" y="3436938"/>
            <a:ext cx="2311342" cy="586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Visualizes frequency energy evolution over time scaled to the perceptually uniform Mel scale.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72046" y="2654102"/>
            <a:ext cx="2628834" cy="1528266"/>
          </a:xfrm>
          <a:prstGeom prst="rect">
            <a:avLst/>
          </a:prstGeom>
          <a:solidFill>
            <a:srgbClr val="17102B"/>
          </a:solidFill>
          <a:ln w="6350">
            <a:solidFill>
              <a:srgbClr val="4A367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30792" y="2812852"/>
            <a:ext cx="2470088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B79CF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RHYTHM METRIC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330792" y="3072507"/>
            <a:ext cx="2311342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Tempo (BPM)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330792" y="3436938"/>
            <a:ext cx="2311342" cy="586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Calculates fundamental periodicity and speed of the musical pulse in beats per minute.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953276" y="2654102"/>
            <a:ext cx="2628834" cy="1528266"/>
          </a:xfrm>
          <a:prstGeom prst="rect">
            <a:avLst/>
          </a:prstGeom>
          <a:solidFill>
            <a:srgbClr val="17102B"/>
          </a:solidFill>
          <a:ln w="6350">
            <a:solidFill>
              <a:srgbClr val="4A367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12022" y="2812852"/>
            <a:ext cx="2470088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B79CF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HARMONY PROFILE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9112022" y="3072507"/>
            <a:ext cx="2311342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Chroma Features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9112022" y="3436938"/>
            <a:ext cx="2311342" cy="586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Projects spectral energy onto 12 discrete semitone pitch classes, characterizing key and harmony.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09585" y="4334768"/>
            <a:ext cx="3555911" cy="1528266"/>
          </a:xfrm>
          <a:prstGeom prst="rect">
            <a:avLst/>
          </a:prstGeom>
          <a:solidFill>
            <a:srgbClr val="17102B"/>
          </a:solidFill>
          <a:ln w="6350">
            <a:solidFill>
              <a:srgbClr val="4A367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331" y="4493518"/>
            <a:ext cx="3397165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B79CF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BRIGHTNESS MEASURE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68331" y="4753173"/>
            <a:ext cx="3238419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Spectral Centroid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768331" y="5117604"/>
            <a:ext cx="3238419" cy="586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Indicates center of mass of the spectrum; correlates directly with perceived sonic sharpness and brightness.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317892" y="4334768"/>
            <a:ext cx="3555911" cy="1528266"/>
          </a:xfrm>
          <a:prstGeom prst="rect">
            <a:avLst/>
          </a:prstGeom>
          <a:solidFill>
            <a:srgbClr val="17102B"/>
          </a:solidFill>
          <a:ln w="6350">
            <a:solidFill>
              <a:srgbClr val="4A367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76638" y="4493518"/>
            <a:ext cx="3397165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B79CF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PERCUSSIVENESS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476638" y="4753173"/>
            <a:ext cx="3238419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Zero Crossing Rate (ZCR)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4476638" y="5117604"/>
            <a:ext cx="3238419" cy="586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Measures rate at which the signal alternates between positive and negative; detects noise and percussive transients.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026199" y="4334768"/>
            <a:ext cx="3555911" cy="1528266"/>
          </a:xfrm>
          <a:prstGeom prst="rect">
            <a:avLst/>
          </a:prstGeom>
          <a:solidFill>
            <a:srgbClr val="4A3670"/>
          </a:solidFill>
          <a:ln w="6350">
            <a:solidFill>
              <a:srgbClr val="4A367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184945" y="4493518"/>
            <a:ext cx="3397165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AMPLITUDE POWER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8184945" y="4753173"/>
            <a:ext cx="3238419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RMS Energy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8184945" y="5117604"/>
            <a:ext cx="3238419" cy="586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Computes root-mean-square energy per frame, quantifying perceived loudness and dynamic envelope.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09585" y="6466086"/>
            <a:ext cx="2592918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Music Genre Classification System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1509186" y="6466086"/>
            <a:ext cx="682509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386185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B79CF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09 — TIME–FREQUENCY VISUALIZATION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1645841"/>
            <a:ext cx="10972526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400" dirty="0">
                <a:solidFill>
                  <a:srgbClr val="F2EDFB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SPECTROGRAMS MAKE GENRE-SPECIFIC PATTERNS VISIBLE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09585" y="2687241"/>
            <a:ext cx="6309262" cy="2376984"/>
          </a:xfrm>
          <a:prstGeom prst="rect">
            <a:avLst/>
          </a:prstGeom>
          <a:solidFill>
            <a:srgbClr val="17102B"/>
          </a:solidFill>
          <a:ln w="6350">
            <a:solidFill>
              <a:srgbClr val="4A367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19130" y="2896791"/>
            <a:ext cx="6099717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B79CF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SPECTROGRAM COORDINATES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19130" y="3188196"/>
            <a:ext cx="6099717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Time → X-axis | Frequency → Y-axis | Color → Signal energy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19130" y="3586262"/>
            <a:ext cx="5890073" cy="19050"/>
          </a:xfrm>
          <a:prstGeom prst="roundRect">
            <a:avLst>
              <a:gd name="adj" fmla="val 49999"/>
            </a:avLst>
          </a:prstGeom>
          <a:solidFill>
            <a:srgbClr val="4A3670"/>
          </a:solidFill>
          <a:ln/>
        </p:spPr>
      </p:sp>
      <p:sp>
        <p:nvSpPr>
          <p:cNvPr id="8" name="Text 6"/>
          <p:cNvSpPr/>
          <p:nvPr/>
        </p:nvSpPr>
        <p:spPr>
          <a:xfrm>
            <a:off x="819130" y="3754537"/>
            <a:ext cx="5890172" cy="11001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Genres produce different frequency distributions, rhythms, and energy patterns</a:t>
            </a:r>
            <a:endParaRPr lang="en-US" sz="14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MFCC compresses frequency information into features suited to machine learning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75936" y="2687241"/>
            <a:ext cx="4206174" cy="2376984"/>
          </a:xfrm>
          <a:prstGeom prst="rect">
            <a:avLst/>
          </a:prstGeom>
          <a:solidFill>
            <a:srgbClr val="4A3670"/>
          </a:solidFill>
          <a:ln w="6350">
            <a:solidFill>
              <a:srgbClr val="4A367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85481" y="2896791"/>
            <a:ext cx="399663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REPRESENTATION TRANSFORMATION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585481" y="3188196"/>
            <a:ext cx="3787085" cy="8354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17000"/>
              </a:lnSpc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Audio waveform</a:t>
            </a:r>
            <a:endParaRPr lang="en-US" sz="1400" dirty="0"/>
          </a:p>
          <a:p>
            <a:pPr marL="284480" indent="-284480" algn="l">
              <a:lnSpc>
                <a:spcPct val="117000"/>
              </a:lnSpc>
              <a:buSzPct val="100000"/>
              <a:buFont typeface="+mj-lt"/>
              <a:buAutoNum type="arabicPeriod" startAt="2"/>
            </a:pPr>
            <a:r>
              <a:rPr lang="en-US" sz="140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Time–frequency spectrogram</a:t>
            </a:r>
            <a:endParaRPr lang="en-US" sz="1400" dirty="0"/>
          </a:p>
          <a:p>
            <a:pPr marL="284480" indent="-284480" algn="l">
              <a:lnSpc>
                <a:spcPct val="117000"/>
              </a:lnSpc>
              <a:buSzPct val="100000"/>
              <a:buFont typeface="+mj-lt"/>
              <a:buAutoNum type="arabicPeriod" startAt="3"/>
            </a:pPr>
            <a:r>
              <a:rPr lang="en-US" sz="140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Compact MFCC feature map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09585" y="6466086"/>
            <a:ext cx="2592918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Music Genre Classification System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451839" y="6466086"/>
            <a:ext cx="739856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1200</Words>
  <Application>Microsoft Office PowerPoint</Application>
  <PresentationFormat>Widescreen</PresentationFormat>
  <Paragraphs>191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Jost</vt:lpstr>
      <vt:lpstr>Bitter Bold</vt:lpstr>
      <vt:lpstr>Arial</vt:lpstr>
      <vt:lpstr>Bitter</vt:lpstr>
      <vt:lpstr>Bitter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Admin</cp:lastModifiedBy>
  <cp:revision>2</cp:revision>
  <dcterms:created xsi:type="dcterms:W3CDTF">2026-10-03T04:48:40Z</dcterms:created>
  <dcterms:modified xsi:type="dcterms:W3CDTF">2026-10-03T05:02:20Z</dcterms:modified>
</cp:coreProperties>
</file>